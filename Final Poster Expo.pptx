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0" r:id="rId2"/>
  </p:sldIdLst>
  <p:sldSz cx="22631400" cy="32042100"/>
  <p:notesSz cx="7010400" cy="92964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92">
          <p15:clr>
            <a:srgbClr val="A4A3A4"/>
          </p15:clr>
        </p15:guide>
        <p15:guide id="2" pos="71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FF66"/>
    <a:srgbClr val="FFCC66"/>
    <a:srgbClr val="FFCC99"/>
    <a:srgbClr val="FFCC00"/>
    <a:srgbClr val="FF9900"/>
    <a:srgbClr val="FFCCCC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33" d="100"/>
          <a:sy n="33" d="100"/>
        </p:scale>
        <p:origin x="1512" y="19"/>
      </p:cViewPr>
      <p:guideLst>
        <p:guide orient="horz" pos="10092"/>
        <p:guide pos="7128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D94423D9-1AF9-4200-858B-5BE75FB9708D}" type="datetimeFigureOut">
              <a:rPr lang="en-US"/>
              <a:pPr>
                <a:defRPr/>
              </a:pPr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696913"/>
            <a:ext cx="24638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027687C-270B-4A2D-999E-AF5ACA0034B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238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E1E326F-BBD2-4E65-BF97-A7A1295B7D7F}" type="slidenum">
              <a:rPr lang="en-US" sz="1200"/>
              <a:pPr eaLnBrk="1" hangingPunct="1"/>
              <a:t>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6054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7038" y="9953625"/>
            <a:ext cx="19237325" cy="6869113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4075" y="18157825"/>
            <a:ext cx="15843250" cy="818832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8AAB89-53F4-4A9A-AF0C-1CFCDCD7B27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04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78DE0-6715-4EAE-9344-44BE4A05127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72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7525" y="20589875"/>
            <a:ext cx="19237325" cy="63642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7525" y="13581063"/>
            <a:ext cx="19237325" cy="700881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93D34A-F514-44E8-A974-34AD0985BFA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986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7038" y="9256713"/>
            <a:ext cx="9542462" cy="19224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91900" y="9256713"/>
            <a:ext cx="9542463" cy="19224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553565-4000-4798-9A04-1232882AEC6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47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888" y="1282700"/>
            <a:ext cx="20367625" cy="53403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888" y="7172325"/>
            <a:ext cx="9999662" cy="2989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1888" y="10161588"/>
            <a:ext cx="9999662" cy="184610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496675" y="7172325"/>
            <a:ext cx="10002838" cy="2989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496675" y="10161588"/>
            <a:ext cx="10002838" cy="184610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D75835-CE6B-44C8-85A5-14F71959C16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70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17CFBD-2860-4888-A205-7596FBC3FC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190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BB4E52-B0C8-43CE-8813-B5BE80BFCC2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60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888" y="1276350"/>
            <a:ext cx="7445375" cy="54292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8725" y="1276350"/>
            <a:ext cx="12650788" cy="273462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888" y="6705600"/>
            <a:ext cx="7445375" cy="21917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E559A9-77B3-4691-9B3B-5B14D56B1BB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192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5475" y="22429788"/>
            <a:ext cx="13579475" cy="26479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35475" y="2862263"/>
            <a:ext cx="13579475" cy="192262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35475" y="25077738"/>
            <a:ext cx="13579475" cy="37607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B47B93-BD76-4EA9-BEEF-6F171ED5552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78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C0E813-9609-4D8D-9B91-C51F9259AD4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813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125825" y="2847975"/>
            <a:ext cx="4808538" cy="25633363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7038" y="2847975"/>
            <a:ext cx="14276387" cy="25633363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5D9C6C-5277-40D2-89BF-8C1496B21F4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70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97038" y="2847975"/>
            <a:ext cx="19237325" cy="534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12414" tIns="156207" rIns="312414" bIns="1562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97038" y="9256713"/>
            <a:ext cx="19237325" cy="1922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12414" tIns="156207" rIns="312414" bIns="1562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97038" y="29194125"/>
            <a:ext cx="4714875" cy="213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12414" tIns="156207" rIns="312414" bIns="156207" numCol="1" anchor="t" anchorCtr="0" compatLnSpc="1">
            <a:prstTxWarp prst="textNoShape">
              <a:avLst/>
            </a:prstTxWarp>
          </a:bodyPr>
          <a:lstStyle>
            <a:lvl1pPr defTabSz="3124200">
              <a:defRPr sz="48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732713" y="29194125"/>
            <a:ext cx="7165975" cy="213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12414" tIns="156207" rIns="312414" bIns="156207" numCol="1" anchor="t" anchorCtr="0" compatLnSpc="1">
            <a:prstTxWarp prst="textNoShape">
              <a:avLst/>
            </a:prstTxWarp>
          </a:bodyPr>
          <a:lstStyle>
            <a:lvl1pPr algn="ctr" defTabSz="3124200">
              <a:defRPr sz="48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6219488" y="29194125"/>
            <a:ext cx="4714875" cy="213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12414" tIns="156207" rIns="312414" bIns="156207" numCol="1" anchor="t" anchorCtr="0" compatLnSpc="1">
            <a:prstTxWarp prst="textNoShape">
              <a:avLst/>
            </a:prstTxWarp>
          </a:bodyPr>
          <a:lstStyle>
            <a:lvl1pPr algn="r" defTabSz="3124200">
              <a:defRPr sz="4800"/>
            </a:lvl1pPr>
          </a:lstStyle>
          <a:p>
            <a:fld id="{A10ED804-502F-4824-972C-976D5A4F16C4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124200" rtl="0" eaLnBrk="0" fontAlgn="base" hangingPunct="0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3124200" rtl="0" eaLnBrk="0" fontAlgn="base" hangingPunct="0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Times New Roman" charset="0"/>
          <a:ea typeface="MS PGothic" pitchFamily="34" charset="-128"/>
          <a:cs typeface="ＭＳ Ｐゴシック" charset="0"/>
        </a:defRPr>
      </a:lvl2pPr>
      <a:lvl3pPr algn="ctr" defTabSz="3124200" rtl="0" eaLnBrk="0" fontAlgn="base" hangingPunct="0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Times New Roman" charset="0"/>
          <a:ea typeface="MS PGothic" pitchFamily="34" charset="-128"/>
          <a:cs typeface="ＭＳ Ｐゴシック" charset="0"/>
        </a:defRPr>
      </a:lvl3pPr>
      <a:lvl4pPr algn="ctr" defTabSz="3124200" rtl="0" eaLnBrk="0" fontAlgn="base" hangingPunct="0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Times New Roman" charset="0"/>
          <a:ea typeface="MS PGothic" pitchFamily="34" charset="-128"/>
          <a:cs typeface="ＭＳ Ｐゴシック" charset="0"/>
        </a:defRPr>
      </a:lvl4pPr>
      <a:lvl5pPr algn="ctr" defTabSz="3124200" rtl="0" eaLnBrk="0" fontAlgn="base" hangingPunct="0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Times New Roman" charset="0"/>
          <a:ea typeface="MS PGothic" pitchFamily="34" charset="-128"/>
          <a:cs typeface="ＭＳ Ｐゴシック" charset="0"/>
        </a:defRPr>
      </a:lvl5pPr>
      <a:lvl6pPr marL="457200" algn="ctr" defTabSz="3124200" rtl="0" fontAlgn="base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ctr" defTabSz="3124200" rtl="0" fontAlgn="base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ctr" defTabSz="3124200" rtl="0" fontAlgn="base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ctr" defTabSz="3124200" rtl="0" fontAlgn="base">
        <a:spcBef>
          <a:spcPct val="0"/>
        </a:spcBef>
        <a:spcAft>
          <a:spcPct val="0"/>
        </a:spcAft>
        <a:defRPr sz="15000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1171575" indent="-1171575" algn="l" defTabSz="3124200" rtl="0" eaLnBrk="0" fontAlgn="base" hangingPunct="0">
        <a:spcBef>
          <a:spcPct val="20000"/>
        </a:spcBef>
        <a:spcAft>
          <a:spcPct val="0"/>
        </a:spcAft>
        <a:buChar char="•"/>
        <a:defRPr sz="109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2538413" indent="-976313" algn="l" defTabSz="312420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MS PGothic" pitchFamily="34" charset="-128"/>
        </a:defRPr>
      </a:lvl2pPr>
      <a:lvl3pPr marL="3905250" indent="-781050" algn="l" defTabSz="3124200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  <a:ea typeface="MS PGothic" pitchFamily="34" charset="-128"/>
        </a:defRPr>
      </a:lvl3pPr>
      <a:lvl4pPr marL="5467350" indent="-781050" algn="l" defTabSz="3124200" rtl="0" eaLnBrk="0" fontAlgn="base" hangingPunct="0">
        <a:spcBef>
          <a:spcPct val="20000"/>
        </a:spcBef>
        <a:spcAft>
          <a:spcPct val="0"/>
        </a:spcAft>
        <a:buChar char="–"/>
        <a:defRPr sz="6800">
          <a:solidFill>
            <a:schemeClr val="tx1"/>
          </a:solidFill>
          <a:latin typeface="+mn-lt"/>
          <a:ea typeface="MS PGothic" pitchFamily="34" charset="-128"/>
        </a:defRPr>
      </a:lvl4pPr>
      <a:lvl5pPr marL="7029450" indent="-781050" algn="l" defTabSz="3124200" rtl="0" eaLnBrk="0" fontAlgn="base" hangingPunct="0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  <a:ea typeface="MS PGothic" pitchFamily="34" charset="-128"/>
        </a:defRPr>
      </a:lvl5pPr>
      <a:lvl6pPr marL="7486650" indent="-781050" algn="l" defTabSz="31242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  <a:ea typeface="+mn-ea"/>
        </a:defRPr>
      </a:lvl6pPr>
      <a:lvl7pPr marL="7943850" indent="-781050" algn="l" defTabSz="31242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  <a:ea typeface="+mn-ea"/>
        </a:defRPr>
      </a:lvl7pPr>
      <a:lvl8pPr marL="8401050" indent="-781050" algn="l" defTabSz="31242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  <a:ea typeface="+mn-ea"/>
        </a:defRPr>
      </a:lvl8pPr>
      <a:lvl9pPr marL="8858250" indent="-781050" algn="l" defTabSz="31242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400471" y="4713377"/>
            <a:ext cx="21788437" cy="0"/>
          </a:xfrm>
          <a:prstGeom prst="line">
            <a:avLst/>
          </a:prstGeom>
          <a:noFill/>
          <a:ln w="76200">
            <a:solidFill>
              <a:srgbClr val="4655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36425" y="28754702"/>
            <a:ext cx="2196585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numCol="2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ts val="1200"/>
              </a:spcBef>
              <a:defRPr/>
            </a:pPr>
            <a:r>
              <a:rPr lang="pt-PT" sz="3600" b="1" dirty="0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rPr>
              <a:t>Students</a:t>
            </a:r>
            <a:r>
              <a:rPr lang="pt-PT" sz="3600" dirty="0">
                <a:solidFill>
                  <a:srgbClr val="46555F"/>
                </a:solidFill>
                <a:latin typeface="Arial" pitchFamily="34" charset="0"/>
              </a:rPr>
              <a:t> </a:t>
            </a:r>
            <a:r>
              <a:rPr lang="pt-PT" sz="3600" dirty="0">
                <a:solidFill>
                  <a:srgbClr val="46555F"/>
                </a:solidFill>
                <a:latin typeface="Arial" pitchFamily="34" charset="0"/>
                <a:cs typeface="Arial" pitchFamily="34" charset="0"/>
              </a:rPr>
              <a:t>|</a:t>
            </a:r>
            <a:r>
              <a:rPr lang="pt-PT" sz="4000" dirty="0">
                <a:solidFill>
                  <a:srgbClr val="46555F"/>
                </a:solidFill>
                <a:latin typeface="Arial" pitchFamily="34" charset="0"/>
                <a:cs typeface="Arial" pitchFamily="34" charset="0"/>
              </a:rPr>
              <a:t> Irfan Hussain Lone </a:t>
            </a:r>
            <a:r>
              <a:rPr lang="en-US" sz="4000" dirty="0">
                <a:solidFill>
                  <a:srgbClr val="46555F"/>
                </a:solidFill>
                <a:latin typeface="Arial" pitchFamily="34" charset="0"/>
                <a:cs typeface="Arial" pitchFamily="34" charset="0"/>
              </a:rPr>
              <a:t> 2GI22CS401			    Rohan O Chikorde 2GI22CS409      </a:t>
            </a:r>
          </a:p>
          <a:p>
            <a:pPr eaLnBrk="1" hangingPunct="1">
              <a:spcBef>
                <a:spcPts val="1200"/>
              </a:spcBef>
              <a:defRPr/>
            </a:pPr>
            <a:endParaRPr lang="en-US" sz="4000" dirty="0">
              <a:solidFill>
                <a:srgbClr val="46555F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defRPr/>
            </a:pPr>
            <a:r>
              <a:rPr lang="en-US" sz="4000" dirty="0">
                <a:solidFill>
                  <a:srgbClr val="46555F"/>
                </a:solidFill>
                <a:latin typeface="Arial" pitchFamily="34" charset="0"/>
                <a:cs typeface="Arial" pitchFamily="34" charset="0"/>
              </a:rPr>
              <a:t>		Abhishek Shelke  2GI22CS400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4000" dirty="0">
                <a:solidFill>
                  <a:srgbClr val="46555F"/>
                </a:solidFill>
                <a:latin typeface="Arial" pitchFamily="34" charset="0"/>
                <a:cs typeface="Arial" pitchFamily="34" charset="0"/>
              </a:rPr>
              <a:t>		Shubham Godse  2GI22CS413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236425" y="12676660"/>
            <a:ext cx="1193666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4000" b="1" dirty="0">
                <a:solidFill>
                  <a:srgbClr val="46555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Methodology :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GB" sz="4000" dirty="0">
                <a:solidFill>
                  <a:srgbClr val="46555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Web-Based Detection Interface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GB" sz="4000" dirty="0">
                <a:solidFill>
                  <a:srgbClr val="46555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Implement Machine Learning Algorithms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GB" sz="4000" dirty="0">
                <a:solidFill>
                  <a:srgbClr val="46555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Supplement information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GB" sz="4000" dirty="0">
                <a:solidFill>
                  <a:srgbClr val="46555F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Monitoring Dashboard</a:t>
            </a: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204548" y="16000425"/>
            <a:ext cx="11315700" cy="67403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GB" sz="3600" b="1" dirty="0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rPr>
              <a:t>Results &amp; Discussion :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rgbClr val="46555F"/>
                </a:solidFill>
                <a:ea typeface="ＭＳ Ｐゴシック" charset="0"/>
                <a:cs typeface="Times New Roman" panose="02020603050405020304" pitchFamily="18" charset="0"/>
              </a:rPr>
              <a:t>Developed a system combining CNN for plant disease detection and IoT sensors for real-time field monitoring.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rgbClr val="46555F"/>
                </a:solidFill>
                <a:ea typeface="ＭＳ Ｐゴシック" charset="0"/>
                <a:cs typeface="Times New Roman" panose="02020603050405020304" pitchFamily="18" charset="0"/>
              </a:rPr>
              <a:t>Delivered a user-friendly web interface with AI features, dashboards, and data visualization.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rgbClr val="46555F"/>
                </a:solidFill>
                <a:ea typeface="ＭＳ Ｐゴシック" charset="0"/>
                <a:cs typeface="Times New Roman" panose="02020603050405020304" pitchFamily="18" charset="0"/>
              </a:rPr>
              <a:t>Achieved high accuracy in disease prediction and reliable sensor data integration.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rgbClr val="46555F"/>
                </a:solidFill>
                <a:ea typeface="ＭＳ Ｐゴシック" charset="0"/>
                <a:cs typeface="Times New Roman" panose="02020603050405020304" pitchFamily="18" charset="0"/>
              </a:rPr>
              <a:t>Provided an efficient and scalable solution for smart agriculture.</a:t>
            </a:r>
            <a:endParaRPr lang="en-GB" sz="4000" dirty="0">
              <a:solidFill>
                <a:srgbClr val="46555F"/>
              </a:solidFill>
              <a:ea typeface="ＭＳ Ｐゴシック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GB" sz="3600" b="1" dirty="0">
              <a:solidFill>
                <a:srgbClr val="46555F"/>
              </a:solidFill>
              <a:latin typeface="Times New Roman" charset="0"/>
              <a:ea typeface="ＭＳ Ｐゴシック" charset="0"/>
              <a:cs typeface="Arial" charset="0"/>
            </a:endParaRPr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348872" y="6725249"/>
            <a:ext cx="13024228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4400" b="1" dirty="0">
                <a:solidFill>
                  <a:srgbClr val="46555F"/>
                </a:solidFill>
                <a:latin typeface="Times New Roman" charset="0"/>
                <a:ea typeface="ＭＳ Ｐゴシック" charset="0"/>
              </a:rPr>
              <a:t>Motivation and Objectives: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rgbClr val="46555F"/>
                </a:solidFill>
                <a:latin typeface="Times New Roman" charset="0"/>
                <a:ea typeface="ＭＳ Ｐゴシック" charset="0"/>
              </a:rPr>
              <a:t>Enhance Disease Detection and Accuracy using ML and provide detailed supplementary information for identified diseases.</a:t>
            </a: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rgbClr val="46555F"/>
                </a:solidFill>
                <a:latin typeface="Times New Roman" charset="0"/>
                <a:ea typeface="ＭＳ Ｐゴシック" charset="0"/>
              </a:rPr>
              <a:t>Boost Crop Health and Productivity.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rgbClr val="46555F"/>
                </a:solidFill>
                <a:latin typeface="Times New Roman" charset="0"/>
                <a:ea typeface="ＭＳ Ｐゴシック" charset="0"/>
              </a:rPr>
              <a:t>Implement IoT sensors for comprehensive real-time field monitoring.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rgbClr val="46555F"/>
                </a:solidFill>
                <a:latin typeface="Times New Roman" charset="0"/>
                <a:ea typeface="ＭＳ Ｐゴシック" charset="0"/>
              </a:rPr>
              <a:t>Create a user-friendly web interface with advanced AI features and visualization tools.</a:t>
            </a:r>
            <a:endParaRPr lang="en-GB" sz="4000" dirty="0">
              <a:solidFill>
                <a:srgbClr val="46555F"/>
              </a:solidFill>
              <a:latin typeface="Times New Roman" charset="0"/>
              <a:ea typeface="ＭＳ Ｐゴシック" charset="0"/>
            </a:endParaRPr>
          </a:p>
          <a:p>
            <a:pPr>
              <a:defRPr/>
            </a:pPr>
            <a:endParaRPr lang="en-GB" sz="4000" b="1" dirty="0">
              <a:solidFill>
                <a:srgbClr val="46555F"/>
              </a:solidFill>
              <a:latin typeface="Times New Roman" charset="0"/>
              <a:ea typeface="ＭＳ Ｐゴシック" charset="0"/>
            </a:endParaRPr>
          </a:p>
          <a:p>
            <a:pPr>
              <a:defRPr/>
            </a:pPr>
            <a:endParaRPr lang="en-GB" sz="4000" b="1" dirty="0">
              <a:solidFill>
                <a:srgbClr val="46555F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169795" y="26014157"/>
            <a:ext cx="12725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pt-PT" sz="3600" b="1" dirty="0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rPr>
              <a:t> Remarks  :</a:t>
            </a:r>
          </a:p>
          <a:p>
            <a:pPr>
              <a:defRPr/>
            </a:pPr>
            <a:r>
              <a:rPr lang="pt-PT" sz="3600" b="1" dirty="0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GB" sz="3600" b="1" dirty="0">
                <a:solidFill>
                  <a:srgbClr val="46555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2064" name="TextBox 228"/>
          <p:cNvSpPr txBox="1">
            <a:spLocks noChangeArrowheads="1"/>
          </p:cNvSpPr>
          <p:nvPr/>
        </p:nvSpPr>
        <p:spPr bwMode="auto">
          <a:xfrm>
            <a:off x="225846" y="24475185"/>
            <a:ext cx="1272698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9263" indent="-449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20000"/>
              </a:lnSpc>
            </a:pPr>
            <a:endParaRPr lang="en-GB" sz="4000" dirty="0">
              <a:solidFill>
                <a:srgbClr val="4655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5" name="Rectangle 21"/>
          <p:cNvSpPr>
            <a:spLocks noChangeArrowheads="1"/>
          </p:cNvSpPr>
          <p:nvPr/>
        </p:nvSpPr>
        <p:spPr bwMode="auto">
          <a:xfrm>
            <a:off x="15415973" y="31028067"/>
            <a:ext cx="6400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pt-PT" sz="4000" dirty="0">
                <a:solidFill>
                  <a:srgbClr val="46555F"/>
                </a:solidFill>
                <a:latin typeface="Arial" charset="0"/>
                <a:ea typeface="ＭＳ Ｐゴシック" charset="0"/>
              </a:rPr>
              <a:t>2024-25</a:t>
            </a:r>
            <a:endParaRPr lang="en-GB" sz="4000" dirty="0">
              <a:solidFill>
                <a:srgbClr val="46555F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7" name="Line 3"/>
          <p:cNvSpPr>
            <a:spLocks noChangeShapeType="1"/>
          </p:cNvSpPr>
          <p:nvPr/>
        </p:nvSpPr>
        <p:spPr bwMode="auto">
          <a:xfrm>
            <a:off x="308277" y="27780592"/>
            <a:ext cx="21788438" cy="0"/>
          </a:xfrm>
          <a:prstGeom prst="line">
            <a:avLst/>
          </a:prstGeom>
          <a:noFill/>
          <a:ln w="76200">
            <a:solidFill>
              <a:srgbClr val="4655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287338" y="31028067"/>
            <a:ext cx="12725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GB" sz="3600" b="1" dirty="0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rPr>
              <a:t>Guide  </a:t>
            </a:r>
            <a:r>
              <a:rPr lang="pt-PT" sz="3600" b="1" dirty="0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rPr>
              <a:t>|</a:t>
            </a:r>
            <a:r>
              <a:rPr lang="en-GB" sz="3600" b="1" dirty="0">
                <a:solidFill>
                  <a:srgbClr val="46555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2074" name="TextBox 228"/>
          <p:cNvSpPr txBox="1">
            <a:spLocks noChangeArrowheads="1"/>
          </p:cNvSpPr>
          <p:nvPr/>
        </p:nvSpPr>
        <p:spPr bwMode="auto">
          <a:xfrm>
            <a:off x="2081873" y="31028067"/>
            <a:ext cx="11311742" cy="76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9263" indent="-449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GB" sz="4000" dirty="0" err="1">
                <a:solidFill>
                  <a:srgbClr val="4655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GB" sz="4000" dirty="0">
                <a:solidFill>
                  <a:srgbClr val="4655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Prasad </a:t>
            </a:r>
            <a:r>
              <a:rPr lang="en-GB" sz="4000" dirty="0" err="1">
                <a:solidFill>
                  <a:srgbClr val="4655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Pujar</a:t>
            </a:r>
            <a:endParaRPr lang="en-GB" sz="4000" dirty="0">
              <a:solidFill>
                <a:srgbClr val="4655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702368" y="21907094"/>
            <a:ext cx="8486540" cy="48047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Text Box 2"/>
          <p:cNvSpPr txBox="1">
            <a:spLocks noChangeArrowheads="1"/>
          </p:cNvSpPr>
          <p:nvPr/>
        </p:nvSpPr>
        <p:spPr bwMode="auto">
          <a:xfrm>
            <a:off x="400470" y="4781639"/>
            <a:ext cx="1297263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600" b="1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r>
              <a:rPr lang="pt-PT" sz="4400" dirty="0"/>
              <a:t>Project Title</a:t>
            </a:r>
            <a:r>
              <a:rPr lang="pt-PT" sz="4000" dirty="0"/>
              <a:t>: Smart Plant Disease Detection and 				   Field Monitoring System </a:t>
            </a:r>
            <a:endParaRPr lang="en-GB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9" t="13026" r="12049" b="2949"/>
          <a:stretch/>
        </p:blipFill>
        <p:spPr>
          <a:xfrm>
            <a:off x="196172" y="88082"/>
            <a:ext cx="3528392" cy="33843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8588" y="381000"/>
            <a:ext cx="3089486" cy="30894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06598" y="466060"/>
            <a:ext cx="15295992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/>
            </a:pPr>
            <a:r>
              <a:rPr lang="en-US" sz="4800" dirty="0" err="1">
                <a:solidFill>
                  <a:srgbClr val="46555F"/>
                </a:solidFill>
                <a:latin typeface="Arial" charset="0"/>
                <a:ea typeface="ＭＳ Ｐゴシック" charset="0"/>
                <a:cs typeface="ＭＳ Ｐゴシック" charset="0"/>
              </a:rPr>
              <a:t>Karnatak</a:t>
            </a:r>
            <a:r>
              <a:rPr lang="en-US" sz="4800" dirty="0">
                <a:solidFill>
                  <a:srgbClr val="46555F"/>
                </a:solidFill>
                <a:latin typeface="Arial" charset="0"/>
                <a:ea typeface="ＭＳ Ｐゴシック" charset="0"/>
                <a:cs typeface="ＭＳ Ｐゴシック" charset="0"/>
              </a:rPr>
              <a:t> Law Society’s </a:t>
            </a:r>
            <a:br>
              <a:rPr lang="en-US" sz="6000" dirty="0">
                <a:solidFill>
                  <a:srgbClr val="46555F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5400" dirty="0">
                <a:solidFill>
                  <a:srgbClr val="46555F"/>
                </a:solidFill>
                <a:latin typeface="Arial" charset="0"/>
                <a:ea typeface="ＭＳ Ｐゴシック" charset="0"/>
                <a:cs typeface="ＭＳ Ｐゴシック" charset="0"/>
              </a:rPr>
              <a:t>GOGTE INSTITUTE OF TECHNOLOGY</a:t>
            </a:r>
            <a:br>
              <a:rPr lang="en-US" sz="6000" dirty="0">
                <a:solidFill>
                  <a:srgbClr val="46555F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3600" dirty="0" err="1">
                <a:solidFill>
                  <a:srgbClr val="46555F"/>
                </a:solidFill>
                <a:latin typeface="Arial" charset="0"/>
                <a:ea typeface="ＭＳ Ｐゴシック" charset="0"/>
                <a:cs typeface="ＭＳ Ｐゴシック" charset="0"/>
              </a:rPr>
              <a:t>Belagavi</a:t>
            </a:r>
            <a:endParaRPr lang="en-US" sz="6000" dirty="0">
              <a:solidFill>
                <a:srgbClr val="46555F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algn="ctr">
              <a:spcBef>
                <a:spcPts val="1200"/>
              </a:spcBef>
              <a:defRPr/>
            </a:pPr>
            <a:r>
              <a:rPr lang="en-US" sz="6000" dirty="0">
                <a:solidFill>
                  <a:srgbClr val="46555F"/>
                </a:solidFill>
                <a:latin typeface="Arial" charset="0"/>
                <a:ea typeface="ＭＳ Ｐゴシック" charset="0"/>
                <a:cs typeface="ＭＳ Ｐゴシック" charset="0"/>
              </a:rPr>
              <a:t>Project Expo-2024</a:t>
            </a:r>
          </a:p>
          <a:p>
            <a:pPr algn="ctr">
              <a:spcBef>
                <a:spcPts val="1200"/>
              </a:spcBef>
              <a:defRPr/>
            </a:pPr>
            <a:r>
              <a:rPr lang="en-US" sz="6000" dirty="0">
                <a:solidFill>
                  <a:srgbClr val="46555F"/>
                </a:solidFill>
                <a:latin typeface="Arial" charset="0"/>
                <a:ea typeface="ＭＳ Ｐゴシック" charset="0"/>
                <a:cs typeface="ＭＳ Ｐゴシック" charset="0"/>
              </a:rPr>
              <a:t>  Department of CSE</a:t>
            </a:r>
            <a:endParaRPr lang="en-IN" sz="6000" dirty="0">
              <a:solidFill>
                <a:srgbClr val="46555F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196172" y="22839058"/>
            <a:ext cx="11315700" cy="31085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pt-PT" sz="4000" b="1" dirty="0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rPr>
              <a:t>Conclusions :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pt-PT" sz="4000" dirty="0">
                <a:solidFill>
                  <a:srgbClr val="46555F"/>
                </a:solidFill>
                <a:latin typeface="+mj-lt"/>
                <a:ea typeface="ＭＳ Ｐゴシック" charset="0"/>
                <a:cs typeface="Arial" charset="0"/>
              </a:rPr>
              <a:t>Effective Disease Detection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pt-PT" sz="4000" dirty="0">
                <a:solidFill>
                  <a:srgbClr val="46555F"/>
                </a:solidFill>
                <a:latin typeface="+mj-lt"/>
                <a:ea typeface="ＭＳ Ｐゴシック" charset="0"/>
                <a:cs typeface="Arial" charset="0"/>
              </a:rPr>
              <a:t>Comrehensice Filed Monitoring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pt-PT" sz="4000" dirty="0">
                <a:solidFill>
                  <a:srgbClr val="46555F"/>
                </a:solidFill>
                <a:latin typeface="+mj-lt"/>
                <a:ea typeface="ＭＳ Ｐゴシック" charset="0"/>
                <a:cs typeface="Arial" charset="0"/>
              </a:rPr>
              <a:t>User-Centric Interface</a:t>
            </a:r>
          </a:p>
          <a:p>
            <a:pPr>
              <a:defRPr/>
            </a:pPr>
            <a:endParaRPr lang="en-GB" sz="3600" b="1" dirty="0">
              <a:solidFill>
                <a:srgbClr val="46555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6425" y="27913704"/>
            <a:ext cx="69749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600" b="1" dirty="0">
                <a:solidFill>
                  <a:srgbClr val="46555F"/>
                </a:solidFill>
                <a:latin typeface="Arial" charset="0"/>
                <a:ea typeface="ＭＳ Ｐゴシック" charset="0"/>
                <a:cs typeface="Arial" charset="0"/>
              </a:rPr>
              <a:t>Project Group </a:t>
            </a:r>
            <a:r>
              <a:rPr lang="pt-PT" sz="4000" dirty="0">
                <a:solidFill>
                  <a:srgbClr val="46555F"/>
                </a:solidFill>
                <a:latin typeface="Arial" pitchFamily="34" charset="0"/>
                <a:cs typeface="Arial" pitchFamily="34" charset="0"/>
              </a:rPr>
              <a:t>|</a:t>
            </a:r>
            <a:r>
              <a:rPr lang="pt-PT" sz="4000" dirty="0">
                <a:solidFill>
                  <a:srgbClr val="46555F"/>
                </a:solidFill>
                <a:latin typeface="Arial" pitchFamily="34" charset="0"/>
              </a:rPr>
              <a:t>  Batch no.  46 </a:t>
            </a:r>
            <a:endParaRPr lang="en-IN" sz="4000" dirty="0"/>
          </a:p>
        </p:txBody>
      </p:sp>
      <p:sp>
        <p:nvSpPr>
          <p:cNvPr id="35" name="Rectangle 34"/>
          <p:cNvSpPr/>
          <p:nvPr/>
        </p:nvSpPr>
        <p:spPr>
          <a:xfrm>
            <a:off x="13742271" y="6558604"/>
            <a:ext cx="8486540" cy="48047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3770631" y="16706502"/>
            <a:ext cx="8486540" cy="4804700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3770631" y="11665833"/>
            <a:ext cx="8486540" cy="4804700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204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Times New Roman</vt:lpstr>
      <vt:lpstr>Default Design</vt:lpstr>
      <vt:lpstr>PowerPoint Presentation</vt:lpstr>
    </vt:vector>
  </TitlesOfParts>
  <Company>Gatos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Vikas Gingine</dc:creator>
  <cp:lastModifiedBy>KHAN AAMIR HUSSAIN</cp:lastModifiedBy>
  <cp:revision>188</cp:revision>
  <cp:lastPrinted>2024-12-14T15:41:44Z</cp:lastPrinted>
  <dcterms:created xsi:type="dcterms:W3CDTF">2014-09-12T19:50:14Z</dcterms:created>
  <dcterms:modified xsi:type="dcterms:W3CDTF">2024-12-14T15:41:46Z</dcterms:modified>
</cp:coreProperties>
</file>